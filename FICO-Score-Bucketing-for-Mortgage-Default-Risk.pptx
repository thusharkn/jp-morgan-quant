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Roboto Slab"/>
      <p:regular r:id="rId16"/>
    </p:embeddedFont>
    <p:embeddedFont>
      <p:font typeface="Roboto Slab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9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834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FICO Score Bucketing for Mortgage Default Risk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91777"/>
            <a:ext cx="65727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Quant Internship – Credit Risk Modeling (Task 4)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4491"/>
            <a:ext cx="894266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Context: Mortgage Portfolio Risk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61509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860" y="3700105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692962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Portfolio Risk Assessment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537710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and manage the inherent risk within the mortgage portfolio.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361509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963" y="3700105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3692962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Estimate Probability of Default (PD)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73008" y="4537710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robust models to quantify the likelihood of loan default for individual mortgages.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77995" y="361509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63065" y="3700105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5111" y="3692962"/>
            <a:ext cx="3347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Categorical Model Inputs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15111" y="4183380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model architecture accommodates categorical variables for enhanced stability and interpretability.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" y="576263"/>
            <a:ext cx="9231511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Definition: FICO Score to Credit Rating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" y="1650206"/>
            <a:ext cx="6326148" cy="63261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8447" y="1624013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Objective: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578447" y="2160984"/>
            <a:ext cx="632614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a continuous FICO score and default indicator to a discrete credit rating bucket.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578447" y="3041094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Constraints: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578447" y="3578066"/>
            <a:ext cx="6326148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Contiguous and exhaustive FICO ranges.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78447" y="3986689"/>
            <a:ext cx="6326148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rating implies superior credit quality.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8447" y="4395311"/>
            <a:ext cx="632614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Monotonic decrease in Probability of Default (PD) across ratings.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122066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Advantages of FICO Score Bucketing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2851785"/>
            <a:ext cx="121920" cy="1730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109079"/>
            <a:ext cx="34962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Continuity to Discreteness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Transforms continuous FICO scores (300–850) into manageable discrete categories.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067" y="2851785"/>
            <a:ext cx="121920" cy="17308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3109079"/>
            <a:ext cx="34500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Enhanced Interpretability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Simplifies risk communication and understanding for stakeholders.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809411"/>
            <a:ext cx="121920" cy="17308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5066705"/>
            <a:ext cx="33838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Improved Model Stability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sensitivity to minor FICO fluctuations, ensuring consistent model performance.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067" y="4809411"/>
            <a:ext cx="121920" cy="17308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5066705"/>
            <a:ext cx="30969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Regulatory Acceptance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Aligns with regulatory requirements for transparent and explainable credit risk models.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4487"/>
            <a:ext cx="8123277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Likelihood-Based Bucketing: Core Concept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93790" y="1674971"/>
            <a:ext cx="364164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Bernoulli Process Assumption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2197894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FICO bucket is modeled as a Bernoulli trial, representing the likelihood of default.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90" y="305538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PD Estimation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3578304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Probability of Default (PD) for each bucket is derived from the ratio of observed defaults to total observations within that bucket.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3790" y="44357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 Function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3790" y="4958715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Maximize the aggregate log-likelihood across all buckets to identify optimal FICO breakpoints.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780" y="1700451"/>
            <a:ext cx="5645110" cy="56451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6923"/>
            <a:ext cx="122404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Optimization Method: Dynamic Programming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59330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1721167" y="2713434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194328" y="2486144"/>
            <a:ext cx="31551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FICO Score Aggregation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2976563"/>
            <a:ext cx="702052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Efficiently groups FICO scores to streamline the optimization process.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551039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CFD2D8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3679627"/>
            <a:ext cx="4347567" cy="166985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9" name="Text 7"/>
          <p:cNvSpPr/>
          <p:nvPr/>
        </p:nvSpPr>
        <p:spPr>
          <a:xfrm>
            <a:off x="2808089" y="431518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68171" y="3906441"/>
            <a:ext cx="31488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Dynamic Programming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396859"/>
            <a:ext cx="82416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Applies dynamic programming algorithms to precisely determine optimal FICO score boundaries.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CFD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462826"/>
            <a:ext cx="6521410" cy="166985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3895011" y="609838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42014" y="5689640"/>
            <a:ext cx="42670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One-Dimensional Segmentation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180058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Focuses on segmenting FICO scores along a single dimension to create distinct risk categories.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1993"/>
            <a:ext cx="820352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Derived Rating Map and PD Allocation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682597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69021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833926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637598" y="2833926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408–520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848606" y="2833926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66%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34053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48424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7598" y="3484245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521–580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606" y="3484245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38%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99085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13456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637598" y="4134564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581–640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848606" y="4134564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64117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78488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7598" y="4784884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641–696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848606" y="4784884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29149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43520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3637598" y="5435203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697–850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848606" y="543520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4.6%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2045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table illustrates the finalized FICO score rating map, showing distinct PDs for each segment.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0367"/>
            <a:ext cx="97216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Interpretation: Clear Risk Separation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BFCF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52455"/>
            <a:ext cx="4196358" cy="121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88" y="3142774"/>
            <a:ext cx="680442" cy="68044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5761" y="3346847"/>
            <a:ext cx="272177" cy="27217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51084" y="4049911"/>
            <a:ext cx="36790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Distinct Credit Risk Profiles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051084" y="454032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bucket clearly delineates differing levels of credit risk, enhancing analytical precision.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5216962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BFCFE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962" y="3452455"/>
            <a:ext cx="4196358" cy="12192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860" y="3142774"/>
            <a:ext cx="680442" cy="680442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8933" y="3346847"/>
            <a:ext cx="272177" cy="27217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474256" y="40499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Inverse Relationship</a:t>
            </a:r>
            <a:endParaRPr lang="en-US" sz="2200" dirty="0"/>
          </a:p>
        </p:txBody>
      </p:sp>
      <p:sp>
        <p:nvSpPr>
          <p:cNvPr id="14" name="Text 6"/>
          <p:cNvSpPr/>
          <p:nvPr/>
        </p:nvSpPr>
        <p:spPr>
          <a:xfrm>
            <a:off x="5474256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Demonstrates a consistent inverse relationship: higher FICO scores correlate with lower Probability of Default.</a:t>
            </a:r>
            <a:endParaRPr lang="en-US" sz="1750" dirty="0"/>
          </a:p>
        </p:txBody>
      </p:sp>
      <p:sp>
        <p:nvSpPr>
          <p:cNvPr id="15" name="Shape 7"/>
          <p:cNvSpPr/>
          <p:nvPr/>
        </p:nvSpPr>
        <p:spPr>
          <a:xfrm>
            <a:off x="9640133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BFCFE"/>
          </a:solidFill>
          <a:ln/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0133" y="3452455"/>
            <a:ext cx="4196358" cy="121920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98032" y="3142774"/>
            <a:ext cx="680442" cy="680442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602105" y="3346847"/>
            <a:ext cx="272177" cy="272177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897427" y="4049911"/>
            <a:ext cx="34572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Stability &amp; Interpretability</a:t>
            </a:r>
            <a:endParaRPr lang="en-US" sz="2200" dirty="0"/>
          </a:p>
        </p:txBody>
      </p:sp>
      <p:sp>
        <p:nvSpPr>
          <p:cNvPr id="20" name="Text 9"/>
          <p:cNvSpPr/>
          <p:nvPr/>
        </p:nvSpPr>
        <p:spPr>
          <a:xfrm>
            <a:off x="9897427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derived buckets offer both predictive stability and straightforward interpretability for risk management.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591"/>
            <a:ext cx="125296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Conclusion: Towards an Integrated PD Pipeline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25998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360069"/>
            <a:ext cx="32881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Categorical PD Modeling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Bucketing directly facilitates the integration of FICO scores into categorical PD models.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225998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360069"/>
            <a:ext cx="31868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Generalizable Approach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methodology is adaptable and scalable for diverse future mortgage portfolios.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225998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Integration Ready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developed framework is prepared for seamless integration into the existing mortgage PD pipeline.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2026-01-04T01:28:26Z</dcterms:created>
  <dcterms:modified xsi:type="dcterms:W3CDTF">2026-01-04T01:28:26Z</dcterms:modified>
</cp:coreProperties>
</file>